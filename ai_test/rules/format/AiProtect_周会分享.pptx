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1A73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37160" y="1828800"/>
            <a:ext cx="7315200" cy="73152"/>
          </a:xfrm>
          <a:prstGeom prst="rect">
            <a:avLst/>
          </a:prstGeom>
          <a:solidFill>
            <a:srgbClr val="1A73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2103120"/>
            <a:ext cx="91440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000" b="1">
                <a:solidFill>
                  <a:srgbClr val="202A36"/>
                </a:solidFill>
                <a:latin typeface="Microsoft YaHei"/>
              </a:defRPr>
            </a:pPr>
            <a:r>
              <a:t>AiProtect — AI 驱动的智能测试平台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20040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
                  <a:srgbClr val="666666"/>
                </a:solidFill>
                <a:latin typeface="Microsoft YaHei"/>
              </a:defRPr>
            </a:pPr>
            <a:r>
              <a:t>周会技术分享  |  重点：AI 生成测试用例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02920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666666"/>
                </a:solidFill>
                <a:latin typeface="Microsoft YaHei"/>
              </a:defRPr>
            </a:pPr>
            <a:r>
              <a:t>汇报人：阮龙博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686800" y="1371600"/>
            <a:ext cx="2926080" cy="4114800"/>
          </a:xfrm>
          <a:prstGeom prst="roundRect">
            <a:avLst/>
          </a:prstGeom>
          <a:solidFill>
            <a:srgbClr val="E8F0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000" b="1">
                <a:solidFill>
                  <a:srgbClr val="1A73E8"/>
                </a:solidFill>
                <a:latin typeface="Microsoft YaHei"/>
              </a:defRPr>
            </a:pPr>
            <a:r>
              <a:t>核心能力</a:t>
            </a:r>
          </a:p>
          <a:p>
            <a:pPr>
              <a:spcBef>
                <a:spcPts val="800"/>
              </a:spcBef>
              <a:spcAft>
                <a:spcPts val="200"/>
              </a:spcAft>
              <a:defRPr sz="1500" b="0">
                <a:solidFill>
                  <a:srgbClr val="202A36"/>
                </a:solidFill>
                <a:latin typeface="Microsoft YaHei"/>
              </a:defRPr>
            </a:pPr>
            <a:r>
              <a:t>✦  AI 功能用例生成</a:t>
            </a:r>
          </a:p>
          <a:p>
            <a:pPr>
              <a:spcBef>
                <a:spcPts val="800"/>
              </a:spcBef>
              <a:spcAft>
                <a:spcPts val="200"/>
              </a:spcAft>
              <a:defRPr sz="1500" b="0">
                <a:solidFill>
                  <a:srgbClr val="202A36"/>
                </a:solidFill>
                <a:latin typeface="Microsoft YaHei"/>
              </a:defRPr>
            </a:pPr>
            <a:r>
              <a:t>✦  AI 接口用例生成</a:t>
            </a:r>
          </a:p>
          <a:p>
            <a:pPr>
              <a:spcBef>
                <a:spcPts val="800"/>
              </a:spcBef>
              <a:spcAft>
                <a:spcPts val="200"/>
              </a:spcAft>
              <a:defRPr sz="1500" b="0">
                <a:solidFill>
                  <a:srgbClr val="202A36"/>
                </a:solidFill>
                <a:latin typeface="Microsoft YaHei"/>
              </a:defRPr>
            </a:pPr>
            <a:r>
              <a:t>✦  知识库增强</a:t>
            </a:r>
          </a:p>
          <a:p>
            <a:pPr>
              <a:spcBef>
                <a:spcPts val="800"/>
              </a:spcBef>
              <a:spcAft>
                <a:spcPts val="200"/>
              </a:spcAft>
              <a:defRPr sz="1500" b="0">
                <a:solidFill>
                  <a:srgbClr val="202A36"/>
                </a:solidFill>
                <a:latin typeface="Microsoft YaHei"/>
              </a:defRPr>
            </a:pPr>
            <a:r>
              <a:t>✦  需求智能分析</a:t>
            </a:r>
          </a:p>
          <a:p>
            <a:pPr>
              <a:spcBef>
                <a:spcPts val="800"/>
              </a:spcBef>
              <a:spcAft>
                <a:spcPts val="200"/>
              </a:spcAft>
              <a:defRPr sz="1500" b="0">
                <a:solidFill>
                  <a:srgbClr val="202A36"/>
                </a:solidFill>
                <a:latin typeface="Microsoft YaHei"/>
              </a:defRPr>
            </a:pPr>
            <a:r>
              <a:t>✦  接口自动化执行</a:t>
            </a:r>
          </a:p>
          <a:p>
            <a:pPr>
              <a:spcBef>
                <a:spcPts val="800"/>
              </a:spcBef>
              <a:spcAft>
                <a:spcPts val="200"/>
              </a:spcAft>
              <a:defRPr sz="1500" b="0">
                <a:solidFill>
                  <a:srgbClr val="202A36"/>
                </a:solidFill>
                <a:latin typeface="Microsoft YaHei"/>
              </a:defRPr>
            </a:pPr>
            <a:r>
              <a:t>✦  XMind 导出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1A73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0"/>
          <a:lstStyle/>
          <a:p>
            <a:pPr algn="l">
              <a:spcBef>
                <a:spcPts val="1000"/>
              </a:spcBef>
              <a:defRPr sz="2800" b="1">
                <a:solidFill>
                  <a:srgbClr val="FFFFFF"/>
                </a:solidFill>
                <a:latin typeface="Microsoft YaHei"/>
              </a:defRPr>
            </a:pPr>
            <a:r>
              <a:t>平台概览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18872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666666"/>
                </a:solidFill>
                <a:latin typeface="Microsoft YaHei"/>
              </a:defRPr>
            </a:pPr>
            <a:r>
              <a:t>一站式 AI 智能测试平台，覆盖从需求分析到用例生成、执行、报告的完整测试生命周期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920240"/>
            <a:ext cx="3383280" cy="2286000"/>
          </a:xfrm>
          <a:prstGeom prst="roundRect">
            <a:avLst/>
          </a:prstGeom>
          <a:solidFill>
            <a:srgbClr val="FFFFFF"/>
          </a:solidFill>
          <a:ln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48640" y="1920240"/>
            <a:ext cx="3383280" cy="54864"/>
          </a:xfrm>
          <a:prstGeom prst="rect">
            <a:avLst/>
          </a:prstGeom>
          <a:solidFill>
            <a:srgbClr val="1A73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2103120"/>
            <a:ext cx="3017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1A73E8"/>
                </a:solidFill>
                <a:latin typeface="Microsoft YaHei"/>
              </a:defRPr>
            </a:pPr>
            <a:r>
              <a:t>AI 功能用例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560320"/>
            <a:ext cx="301752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666666"/>
                </a:solidFill>
                <a:latin typeface="Microsoft YaHei"/>
              </a:defRPr>
            </a:pPr>
            <a:r>
              <a:t>需求文档 → 测试点 → 用例</a:t>
            </a:r>
          </a:p>
          <a:p>
            <a:pPr>
              <a:spcBef>
                <a:spcPts val="400"/>
              </a:spcBef>
              <a:spcAft>
                <a:spcPts val="200"/>
              </a:spcAft>
              <a:defRPr sz="1400" b="0">
                <a:solidFill>
                  <a:srgbClr val="666666"/>
                </a:solidFill>
                <a:latin typeface="Microsoft YaHei"/>
              </a:defRPr>
            </a:pPr>
            <a:r>
              <a:t>支持文档/图片/视频输入</a:t>
            </a:r>
          </a:p>
          <a:p>
            <a:pPr>
              <a:spcBef>
                <a:spcPts val="400"/>
              </a:spcBef>
              <a:spcAft>
                <a:spcPts val="200"/>
              </a:spcAft>
              <a:defRPr sz="1400" b="0">
                <a:solidFill>
                  <a:srgbClr val="666666"/>
                </a:solidFill>
                <a:latin typeface="Microsoft YaHei"/>
              </a:defRPr>
            </a:pPr>
            <a:r>
              <a:t>LangGraph 工作流引擎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297680" y="1920240"/>
            <a:ext cx="3383280" cy="2286000"/>
          </a:xfrm>
          <a:prstGeom prst="roundRect">
            <a:avLst/>
          </a:prstGeom>
          <a:solidFill>
            <a:srgbClr val="FFFFFF"/>
          </a:solidFill>
          <a:ln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297680" y="1920240"/>
            <a:ext cx="3383280" cy="54864"/>
          </a:xfrm>
          <a:prstGeom prst="rect">
            <a:avLst/>
          </a:prstGeom>
          <a:solidFill>
            <a:srgbClr val="34A8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480560" y="2103120"/>
            <a:ext cx="3017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34A853"/>
                </a:solidFill>
                <a:latin typeface="Microsoft YaHei"/>
              </a:defRPr>
            </a:pPr>
            <a:r>
              <a:t>AI 接口用例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480560" y="2560320"/>
            <a:ext cx="301752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666666"/>
                </a:solidFill>
                <a:latin typeface="Microsoft YaHei"/>
              </a:defRPr>
            </a:pPr>
            <a:r>
              <a:t>Swagger/OpenAPI 解析</a:t>
            </a:r>
          </a:p>
          <a:p>
            <a:pPr>
              <a:spcBef>
                <a:spcPts val="400"/>
              </a:spcBef>
              <a:spcAft>
                <a:spcPts val="200"/>
              </a:spcAft>
              <a:defRPr sz="1400" b="0">
                <a:solidFill>
                  <a:srgbClr val="666666"/>
                </a:solidFill>
                <a:latin typeface="Microsoft YaHei"/>
              </a:defRPr>
            </a:pPr>
            <a:r>
              <a:t>自动生成可执行用例</a:t>
            </a:r>
          </a:p>
          <a:p>
            <a:pPr>
              <a:spcBef>
                <a:spcPts val="400"/>
              </a:spcBef>
              <a:spcAft>
                <a:spcPts val="200"/>
              </a:spcAft>
              <a:defRPr sz="1400" b="0">
                <a:solidFill>
                  <a:srgbClr val="666666"/>
                </a:solidFill>
                <a:latin typeface="Microsoft YaHei"/>
              </a:defRPr>
            </a:pPr>
            <a:r>
              <a:t>支持断言 &amp; 数据库校验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046720" y="1920240"/>
            <a:ext cx="3383280" cy="2286000"/>
          </a:xfrm>
          <a:prstGeom prst="roundRect">
            <a:avLst/>
          </a:prstGeom>
          <a:solidFill>
            <a:srgbClr val="FFFFFF"/>
          </a:solidFill>
          <a:ln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8046720" y="1920240"/>
            <a:ext cx="3383280" cy="54864"/>
          </a:xfrm>
          <a:prstGeom prst="rect">
            <a:avLst/>
          </a:prstGeom>
          <a:solidFill>
            <a:srgbClr val="9C27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229600" y="2103120"/>
            <a:ext cx="3017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9C27B0"/>
                </a:solidFill>
                <a:latin typeface="Microsoft YaHei"/>
              </a:defRPr>
            </a:pPr>
            <a:r>
              <a:t>智能知识库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29600" y="2560320"/>
            <a:ext cx="301752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666666"/>
                </a:solidFill>
                <a:latin typeface="Microsoft YaHei"/>
              </a:defRPr>
            </a:pPr>
            <a:r>
              <a:t>RAG 知识检索增强</a:t>
            </a:r>
          </a:p>
          <a:p>
            <a:pPr>
              <a:spcBef>
                <a:spcPts val="400"/>
              </a:spcBef>
              <a:spcAft>
                <a:spcPts val="200"/>
              </a:spcAft>
              <a:defRPr sz="1400" b="0">
                <a:solidFill>
                  <a:srgbClr val="666666"/>
                </a:solidFill>
                <a:latin typeface="Microsoft YaHei"/>
              </a:defRPr>
            </a:pPr>
            <a:r>
              <a:t>评审会议知识沉淀</a:t>
            </a:r>
          </a:p>
          <a:p>
            <a:pPr>
              <a:spcBef>
                <a:spcPts val="400"/>
              </a:spcBef>
              <a:spcAft>
                <a:spcPts val="200"/>
              </a:spcAft>
              <a:defRPr sz="1400" b="0">
                <a:solidFill>
                  <a:srgbClr val="666666"/>
                </a:solidFill>
                <a:latin typeface="Microsoft YaHei"/>
              </a:defRPr>
            </a:pPr>
            <a:r>
              <a:t>历史用例参考复用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48640" y="4572000"/>
            <a:ext cx="3383280" cy="2286000"/>
          </a:xfrm>
          <a:prstGeom prst="roundRect">
            <a:avLst/>
          </a:prstGeom>
          <a:solidFill>
            <a:srgbClr val="FFFFFF"/>
          </a:solidFill>
          <a:ln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548640" y="4572000"/>
            <a:ext cx="3383280" cy="54864"/>
          </a:xfrm>
          <a:prstGeom prst="rect">
            <a:avLst/>
          </a:prstGeom>
          <a:solidFill>
            <a:srgbClr val="E91E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31520" y="4754880"/>
            <a:ext cx="3017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E91E63"/>
                </a:solidFill>
                <a:latin typeface="Microsoft YaHei"/>
              </a:defRPr>
            </a:pPr>
            <a:r>
              <a:t>需求分析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31520" y="5212080"/>
            <a:ext cx="301752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666666"/>
                </a:solidFill>
                <a:latin typeface="Microsoft YaHei"/>
              </a:defRPr>
            </a:pPr>
            <a:r>
              <a:t>PRD 结构化解析</a:t>
            </a:r>
          </a:p>
          <a:p>
            <a:pPr>
              <a:spcBef>
                <a:spcPts val="400"/>
              </a:spcBef>
              <a:spcAft>
                <a:spcPts val="200"/>
              </a:spcAft>
              <a:defRPr sz="1400" b="0">
                <a:solidFill>
                  <a:srgbClr val="666666"/>
                </a:solidFill>
                <a:latin typeface="Microsoft YaHei"/>
              </a:defRPr>
            </a:pPr>
            <a:r>
              <a:t>业务流程图生成</a:t>
            </a:r>
          </a:p>
          <a:p>
            <a:pPr>
              <a:spcBef>
                <a:spcPts val="400"/>
              </a:spcBef>
              <a:spcAft>
                <a:spcPts val="200"/>
              </a:spcAft>
              <a:defRPr sz="1400" b="0">
                <a:solidFill>
                  <a:srgbClr val="666666"/>
                </a:solidFill>
                <a:latin typeface="Microsoft YaHei"/>
              </a:defRPr>
            </a:pPr>
            <a:r>
              <a:t>多格式文档支持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297680" y="4572000"/>
            <a:ext cx="3383280" cy="2286000"/>
          </a:xfrm>
          <a:prstGeom prst="roundRect">
            <a:avLst/>
          </a:prstGeom>
          <a:solidFill>
            <a:srgbClr val="FFFFFF"/>
          </a:solidFill>
          <a:ln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4297680" y="4572000"/>
            <a:ext cx="3383280" cy="54864"/>
          </a:xfrm>
          <a:prstGeom prst="rect">
            <a:avLst/>
          </a:prstGeom>
          <a:solidFill>
            <a:srgbClr val="FF57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480560" y="4754880"/>
            <a:ext cx="3017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5722"/>
                </a:solidFill>
                <a:latin typeface="Microsoft YaHei"/>
              </a:defRPr>
            </a:pPr>
            <a:r>
              <a:t>接口自动化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480560" y="5212080"/>
            <a:ext cx="301752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666666"/>
                </a:solidFill>
                <a:latin typeface="Microsoft YaHei"/>
              </a:defRPr>
            </a:pPr>
            <a:r>
              <a:t>用例编排与执行</a:t>
            </a:r>
          </a:p>
          <a:p>
            <a:pPr>
              <a:spcBef>
                <a:spcPts val="400"/>
              </a:spcBef>
              <a:spcAft>
                <a:spcPts val="200"/>
              </a:spcAft>
              <a:defRPr sz="1400" b="0">
                <a:solidFill>
                  <a:srgbClr val="666666"/>
                </a:solidFill>
                <a:latin typeface="Microsoft YaHei"/>
              </a:defRPr>
            </a:pPr>
            <a:r>
              <a:t>环境变量管理</a:t>
            </a:r>
          </a:p>
          <a:p>
            <a:pPr>
              <a:spcBef>
                <a:spcPts val="400"/>
              </a:spcBef>
              <a:spcAft>
                <a:spcPts val="200"/>
              </a:spcAft>
              <a:defRPr sz="1400" b="0">
                <a:solidFill>
                  <a:srgbClr val="666666"/>
                </a:solidFill>
                <a:latin typeface="Microsoft YaHei"/>
              </a:defRPr>
            </a:pPr>
            <a:r>
              <a:t>执行报告 &amp; 日志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046720" y="4572000"/>
            <a:ext cx="3383280" cy="2286000"/>
          </a:xfrm>
          <a:prstGeom prst="roundRect">
            <a:avLst/>
          </a:prstGeom>
          <a:solidFill>
            <a:srgbClr val="FFFFFF"/>
          </a:solidFill>
          <a:ln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8046720" y="4572000"/>
            <a:ext cx="3383280" cy="54864"/>
          </a:xfrm>
          <a:prstGeom prst="rect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229600" y="4754880"/>
            <a:ext cx="3017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09688"/>
                </a:solidFill>
                <a:latin typeface="Microsoft YaHei"/>
              </a:defRPr>
            </a:pPr>
            <a:r>
              <a:t>测试管理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229600" y="5212080"/>
            <a:ext cx="301752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666666"/>
                </a:solidFill>
                <a:latin typeface="Microsoft YaHei"/>
              </a:defRPr>
            </a:pPr>
            <a:r>
              <a:t>迭代排期管理</a:t>
            </a:r>
          </a:p>
          <a:p>
            <a:pPr>
              <a:spcBef>
                <a:spcPts val="400"/>
              </a:spcBef>
              <a:spcAft>
                <a:spcPts val="200"/>
              </a:spcAft>
              <a:defRPr sz="1400" b="0">
                <a:solidFill>
                  <a:srgbClr val="666666"/>
                </a:solidFill>
                <a:latin typeface="Microsoft YaHei"/>
              </a:defRPr>
            </a:pPr>
            <a:r>
              <a:t>日报生成 &amp; 飞书同步</a:t>
            </a:r>
          </a:p>
          <a:p>
            <a:pPr>
              <a:spcBef>
                <a:spcPts val="400"/>
              </a:spcBef>
              <a:spcAft>
                <a:spcPts val="200"/>
              </a:spcAft>
              <a:defRPr sz="1400" b="0">
                <a:solidFill>
                  <a:srgbClr val="666666"/>
                </a:solidFill>
                <a:latin typeface="Microsoft YaHei"/>
              </a:defRPr>
            </a:pPr>
            <a:r>
              <a:t>XMind 导出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48640" y="621792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666666"/>
                </a:solidFill>
                <a:latin typeface="Microsoft YaHei"/>
              </a:defRPr>
            </a:pPr>
            <a:r>
              <a:t>技术栈：Vue 3 + Element Plus  |  FastAPI + Tortoise ORM  |  LangChain + LangGraph  |  MySQL 8  |  Docker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1A73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0"/>
          <a:lstStyle/>
          <a:p>
            <a:pPr algn="l">
              <a:spcBef>
                <a:spcPts val="1000"/>
              </a:spcBef>
              <a:defRPr sz="2800" b="1">
                <a:solidFill>
                  <a:srgbClr val="FFFFFF"/>
                </a:solidFill>
                <a:latin typeface="Microsoft YaHei"/>
              </a:defRPr>
            </a:pPr>
            <a:r>
              <a:t>AI 生成测试用例 — 整体架构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18872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666666"/>
                </a:solidFill>
                <a:latin typeface="Microsoft YaHei"/>
              </a:defRPr>
            </a:pPr>
            <a:r>
              <a:t>两条路径：基于需求的 LangGraph 工作流  &amp;  基于文档上传的流式生成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828800"/>
            <a:ext cx="5486400" cy="4572000"/>
          </a:xfrm>
          <a:prstGeom prst="roundRect">
            <a:avLst/>
          </a:prstGeom>
          <a:solidFill>
            <a:srgbClr val="E8F0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92024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1A73E8"/>
                </a:solidFill>
                <a:latin typeface="Microsoft YaHei"/>
              </a:defRPr>
            </a:pPr>
            <a:r>
              <a:t>路径 A：需求驱动（LangGraph 工作流）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468880"/>
            <a:ext cx="50292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202A36"/>
                </a:solidFill>
                <a:latin typeface="Microsoft YaHei"/>
              </a:defRPr>
            </a:pPr>
            <a:r>
              <a:t>1️⃣  需求文档输入（数据库中的结构化需求）</a:t>
            </a:r>
          </a:p>
          <a:p>
            <a:pPr>
              <a:spcBef>
                <a:spcPts val="1000"/>
              </a:spcBef>
              <a:spcAft>
                <a:spcPts val="200"/>
              </a:spcAft>
              <a:defRPr sz="1500" b="0">
                <a:solidFill>
                  <a:srgbClr val="202A36"/>
                </a:solidFill>
                <a:latin typeface="Microsoft YaHei"/>
              </a:defRPr>
            </a:pPr>
            <a:r>
              <a:t>2️⃣  知识增强：RAG 检索 + 评审知识 + 历史用例</a:t>
            </a:r>
          </a:p>
          <a:p>
            <a:pPr>
              <a:spcBef>
                <a:spcPts val="1000"/>
              </a:spcBef>
              <a:spcAft>
                <a:spcPts val="200"/>
              </a:spcAft>
              <a:defRPr sz="1500" b="0">
                <a:solidFill>
                  <a:srgbClr val="202A36"/>
                </a:solidFill>
                <a:latin typeface="Microsoft YaHei"/>
              </a:defRPr>
            </a:pPr>
            <a:r>
              <a:t>3️⃣  AI 提取测试点（正向/边界/异常）</a:t>
            </a:r>
          </a:p>
          <a:p>
            <a:pPr>
              <a:spcBef>
                <a:spcPts val="1000"/>
              </a:spcBef>
              <a:spcAft>
                <a:spcPts val="200"/>
              </a:spcAft>
              <a:defRPr sz="1500" b="0">
                <a:solidFill>
                  <a:srgbClr val="202A36"/>
                </a:solidFill>
                <a:latin typeface="Microsoft YaHei"/>
              </a:defRPr>
            </a:pPr>
            <a:r>
              <a:t>4️⃣  验证测试点覆盖率 → 未覆盖则循环补充</a:t>
            </a:r>
          </a:p>
          <a:p>
            <a:pPr>
              <a:spcBef>
                <a:spcPts val="1000"/>
              </a:spcBef>
              <a:spcAft>
                <a:spcPts val="200"/>
              </a:spcAft>
              <a:defRPr sz="1500" b="0">
                <a:solidFill>
                  <a:srgbClr val="202A36"/>
                </a:solidFill>
                <a:latin typeface="Microsoft YaHei"/>
              </a:defRPr>
            </a:pPr>
            <a:r>
              <a:t>5️⃣  AI 按场景分组生成测试用例</a:t>
            </a:r>
          </a:p>
          <a:p>
            <a:pPr>
              <a:spcBef>
                <a:spcPts val="1000"/>
              </a:spcBef>
              <a:spcAft>
                <a:spcPts val="200"/>
              </a:spcAft>
              <a:defRPr sz="1500" b="0">
                <a:solidFill>
                  <a:srgbClr val="202A36"/>
                </a:solidFill>
                <a:latin typeface="Microsoft YaHei"/>
              </a:defRPr>
            </a:pPr>
            <a:r>
              <a:t>6️⃣  验证用例覆盖率 → 未覆盖则循环补充</a:t>
            </a:r>
          </a:p>
          <a:p>
            <a:pPr>
              <a:spcBef>
                <a:spcPts val="1000"/>
              </a:spcBef>
              <a:spcAft>
                <a:spcPts val="200"/>
              </a:spcAft>
              <a:defRPr sz="1500" b="0">
                <a:solidFill>
                  <a:srgbClr val="202A36"/>
                </a:solidFill>
                <a:latin typeface="Microsoft YaHei"/>
              </a:defRPr>
            </a:pPr>
            <a:r>
              <a:t>7️⃣  自动保存到数据库（用例集 + 场景分组）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309360" y="1828800"/>
            <a:ext cx="5486400" cy="4572000"/>
          </a:xfrm>
          <a:prstGeom prst="roundRect">
            <a:avLst/>
          </a:prstGeom>
          <a:solidFill>
            <a:srgbClr val="E8F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92240" y="192024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34A853"/>
                </a:solidFill>
                <a:latin typeface="Microsoft YaHei"/>
              </a:defRPr>
            </a:pPr>
            <a:r>
              <a:t>路径 B：文档上传（流式生成）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92240" y="2468880"/>
            <a:ext cx="50292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202A36"/>
                </a:solidFill>
                <a:latin typeface="Microsoft YaHei"/>
              </a:defRPr>
            </a:pPr>
            <a:r>
              <a:t>1️⃣  多模态输入（文档/图片/视频/文本）</a:t>
            </a:r>
          </a:p>
          <a:p>
            <a:pPr>
              <a:spcBef>
                <a:spcPts val="1000"/>
              </a:spcBef>
              <a:spcAft>
                <a:spcPts val="200"/>
              </a:spcAft>
              <a:defRPr sz="1500" b="0">
                <a:solidFill>
                  <a:srgbClr val="202A36"/>
                </a:solidFill>
                <a:latin typeface="Microsoft YaHei"/>
              </a:defRPr>
            </a:pPr>
            <a:r>
              <a:t>2️⃣  可选：关联知识库文档</a:t>
            </a:r>
          </a:p>
          <a:p>
            <a:pPr>
              <a:spcBef>
                <a:spcPts val="1000"/>
              </a:spcBef>
              <a:spcAft>
                <a:spcPts val="200"/>
              </a:spcAft>
              <a:defRPr sz="1500" b="0">
                <a:solidFill>
                  <a:srgbClr val="202A36"/>
                </a:solidFill>
                <a:latin typeface="Microsoft YaHei"/>
              </a:defRPr>
            </a:pPr>
            <a:r>
              <a:t>3️⃣  SSE 流式调用 LLM 提取测试点</a:t>
            </a:r>
          </a:p>
          <a:p>
            <a:pPr>
              <a:spcBef>
                <a:spcPts val="1000"/>
              </a:spcBef>
              <a:spcAft>
                <a:spcPts val="200"/>
              </a:spcAft>
              <a:defRPr sz="1500" b="0">
                <a:solidFill>
                  <a:srgbClr val="202A36"/>
                </a:solidFill>
                <a:latin typeface="Microsoft YaHei"/>
              </a:defRPr>
            </a:pPr>
            <a:r>
              <a:t>4️⃣  实时展示提取结果</a:t>
            </a:r>
          </a:p>
          <a:p>
            <a:pPr>
              <a:spcBef>
                <a:spcPts val="1000"/>
              </a:spcBef>
              <a:spcAft>
                <a:spcPts val="200"/>
              </a:spcAft>
              <a:defRPr sz="1500" b="0">
                <a:solidFill>
                  <a:srgbClr val="202A36"/>
                </a:solidFill>
                <a:latin typeface="Microsoft YaHei"/>
              </a:defRPr>
            </a:pPr>
            <a:r>
              <a:t>5️⃣  保存为测试点集</a:t>
            </a:r>
          </a:p>
          <a:p>
            <a:pPr>
              <a:spcBef>
                <a:spcPts val="1000"/>
              </a:spcBef>
              <a:spcAft>
                <a:spcPts val="200"/>
              </a:spcAft>
              <a:defRPr sz="1500" b="0">
                <a:solidFill>
                  <a:srgbClr val="202A36"/>
                </a:solidFill>
                <a:latin typeface="Microsoft YaHei"/>
              </a:defRPr>
            </a:pPr>
            <a:r>
              <a:t>6️⃣  一键分批并发生成测试用例</a:t>
            </a:r>
          </a:p>
          <a:p>
            <a:pPr>
              <a:spcBef>
                <a:spcPts val="1000"/>
              </a:spcBef>
              <a:spcAft>
                <a:spcPts val="200"/>
              </a:spcAft>
              <a:defRPr sz="1500" b="0">
                <a:solidFill>
                  <a:srgbClr val="202A36"/>
                </a:solidFill>
                <a:latin typeface="Microsoft YaHei"/>
              </a:defRPr>
            </a:pPr>
            <a:r>
              <a:t>7️⃣  生成用例集，支持 XMind 导出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1A73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0"/>
          <a:lstStyle/>
          <a:p>
            <a:pPr algn="l">
              <a:spcBef>
                <a:spcPts val="1000"/>
              </a:spcBef>
              <a:defRPr sz="2800" b="1">
                <a:solidFill>
                  <a:srgbClr val="FFFFFF"/>
                </a:solidFill>
                <a:latin typeface="Microsoft YaHei"/>
              </a:defRPr>
            </a:pPr>
            <a:r>
              <a:t>LangGraph 工作流详解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18872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666666"/>
                </a:solidFill>
                <a:latin typeface="Microsoft YaHei"/>
              </a:defRPr>
            </a:pPr>
            <a:r>
              <a:t>双层工作流架构：主工作流编排全流程，子工作流负责测试点的迭代生成与验证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828800"/>
            <a:ext cx="5303520" cy="4572000"/>
          </a:xfrm>
          <a:prstGeom prst="roundRect">
            <a:avLst/>
          </a:prstGeom>
          <a:solidFill>
            <a:srgbClr val="FDF0E2"/>
          </a:solidFill>
          <a:ln>
            <a:solidFill>
              <a:srgbClr val="FBBC0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920240"/>
            <a:ext cx="4846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E67E00"/>
                </a:solidFill>
                <a:latin typeface="Microsoft YaHei"/>
              </a:defRPr>
            </a:pPr>
            <a:r>
              <a:t>子工作流：GeneratorPointWorkflow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468880"/>
            <a:ext cx="4754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202A36"/>
                </a:solidFill>
                <a:latin typeface="Microsoft YaHei"/>
              </a:defRPr>
            </a:pPr>
            <a:r>
              <a:t>▸  START（开始节点）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274320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666666"/>
                </a:solidFill>
                <a:latin typeface="Microsoft YaHei"/>
              </a:defRPr>
            </a:pPr>
            <a:r>
              <a:t>接收增强后的需求文档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3108960"/>
            <a:ext cx="4754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202A36"/>
                </a:solidFill>
                <a:latin typeface="Microsoft YaHei"/>
              </a:defRPr>
            </a:pPr>
            <a:r>
              <a:t>▸  生成测试点（LLM 调用）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338328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666666"/>
                </a:solidFill>
                <a:latin typeface="Microsoft YaHei"/>
              </a:defRPr>
            </a:pPr>
            <a:r>
              <a:t>Prompt 引导：正向验证 / 边界测试 / 异常处理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3749040"/>
            <a:ext cx="4754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202A36"/>
                </a:solidFill>
                <a:latin typeface="Microsoft YaHei"/>
              </a:defRPr>
            </a:pPr>
            <a:r>
              <a:t>▸  验证覆盖率（LLM 调用）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97280" y="402336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666666"/>
                </a:solidFill>
                <a:latin typeface="Microsoft YaHei"/>
              </a:defRPr>
            </a:pPr>
            <a:r>
              <a:t>对比需求文档检查是否全面覆盖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4389120"/>
            <a:ext cx="4754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202A36"/>
                </a:solidFill>
                <a:latin typeface="Microsoft YaHei"/>
              </a:defRPr>
            </a:pPr>
            <a:r>
              <a:t>▸  路由分派（条件路由）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97280" y="466344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666666"/>
                </a:solidFill>
                <a:latin typeface="Microsoft YaHei"/>
              </a:defRPr>
            </a:pPr>
            <a:r>
              <a:t>覆盖 → 输出  |  未覆盖 → 回到生成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5029200"/>
            <a:ext cx="4754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202A36"/>
                </a:solidFill>
                <a:latin typeface="Microsoft YaHei"/>
              </a:defRPr>
            </a:pPr>
            <a:r>
              <a:t>▸  输出测试点（结束）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97280" y="530352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666666"/>
                </a:solidFill>
                <a:latin typeface="Microsoft YaHei"/>
              </a:defRPr>
            </a:pPr>
            <a:r>
              <a:t>返回完整测试点列表给主工作流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4400" y="5852160"/>
            <a:ext cx="4114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E67E00"/>
                </a:solidFill>
                <a:latin typeface="Microsoft YaHei"/>
              </a:defRPr>
            </a:pPr>
            <a:r>
              <a:t>🔄 关键机制：覆盖率不足时自动循环补充测试点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217920" y="1828800"/>
            <a:ext cx="5486400" cy="4572000"/>
          </a:xfrm>
          <a:prstGeom prst="roundRect">
            <a:avLst/>
          </a:prstGeom>
          <a:solidFill>
            <a:srgbClr val="E8F0FE"/>
          </a:solidFill>
          <a:ln>
            <a:solidFill>
              <a:srgbClr val="1A73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00800" y="192024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1A73E8"/>
                </a:solidFill>
                <a:latin typeface="Microsoft YaHei"/>
              </a:defRPr>
            </a:pPr>
            <a:r>
              <a:t>主工作流：GeneratorTestCaseWorkflow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92240" y="2468880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202A36"/>
                </a:solidFill>
                <a:latin typeface="Microsoft YaHei"/>
              </a:defRPr>
            </a:pPr>
            <a:r>
              <a:t>▸  生成测试点（调用子工作流）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858000" y="2743200"/>
            <a:ext cx="4754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666666"/>
                </a:solidFill>
                <a:latin typeface="Microsoft YaHei"/>
              </a:defRPr>
            </a:pPr>
            <a:r>
              <a:t>内含迭代验证逻辑，确保测试点全覆盖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92240" y="3108960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202A36"/>
                </a:solidFill>
                <a:latin typeface="Microsoft YaHei"/>
              </a:defRPr>
            </a:pPr>
            <a:r>
              <a:t>▸  生成测试用例（LLM 调用）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858000" y="3383280"/>
            <a:ext cx="4754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666666"/>
                </a:solidFill>
                <a:latin typeface="Microsoft YaHei"/>
              </a:defRPr>
            </a:pPr>
            <a:r>
              <a:t>基于测试点按场景分组生成标准用例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92240" y="3749040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202A36"/>
                </a:solidFill>
                <a:latin typeface="Microsoft YaHei"/>
              </a:defRPr>
            </a:pPr>
            <a:r>
              <a:t>▸  验证用例覆盖率（LLM 调用）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858000" y="4023360"/>
            <a:ext cx="4754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666666"/>
                </a:solidFill>
                <a:latin typeface="Microsoft YaHei"/>
              </a:defRPr>
            </a:pPr>
            <a:r>
              <a:t>检查用例是否覆盖所有测试点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92240" y="4389120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202A36"/>
                </a:solidFill>
                <a:latin typeface="Microsoft YaHei"/>
              </a:defRPr>
            </a:pPr>
            <a:r>
              <a:t>▸  条件路由（分支判断）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858000" y="4663440"/>
            <a:ext cx="4754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666666"/>
                </a:solidFill>
                <a:latin typeface="Microsoft YaHei"/>
              </a:defRPr>
            </a:pPr>
            <a:r>
              <a:t>覆盖 → 保存  |  未覆盖 → 回到生成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92240" y="5029200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202A36"/>
                </a:solidFill>
                <a:latin typeface="Microsoft YaHei"/>
              </a:defRPr>
            </a:pPr>
            <a:r>
              <a:t>▸  保存测试用例（数据持久化）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858000" y="5303520"/>
            <a:ext cx="4754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666666"/>
                </a:solidFill>
                <a:latin typeface="Microsoft YaHei"/>
              </a:defRPr>
            </a:pPr>
            <a:r>
              <a:t>写入 MySQL，含用例集 &amp; 场景分组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675120" y="585216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A73E8"/>
                </a:solidFill>
                <a:latin typeface="Microsoft YaHei"/>
              </a:defRPr>
            </a:pPr>
            <a:r>
              <a:t>🔄 关键机制：用例覆盖率不足时自动循环补充用例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1A73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0"/>
          <a:lstStyle/>
          <a:p>
            <a:pPr algn="l">
              <a:spcBef>
                <a:spcPts val="1000"/>
              </a:spcBef>
              <a:defRPr sz="2800" b="1">
                <a:solidFill>
                  <a:srgbClr val="FFFFFF"/>
                </a:solidFill>
                <a:latin typeface="Microsoft YaHei"/>
              </a:defRPr>
            </a:pPr>
            <a:r>
              <a:t>知识增强机制 — 提升用例生成质量的关键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18872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666666"/>
                </a:solidFill>
                <a:latin typeface="Microsoft YaHei"/>
              </a:defRPr>
            </a:pPr>
            <a:r>
              <a:t>在调用 LLM 前，自动检索多个知识源构建增强上下文，让 AI 拥有更完整的业务理解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2011680"/>
            <a:ext cx="2560320" cy="2560320"/>
          </a:xfrm>
          <a:prstGeom prst="roundRect">
            <a:avLst/>
          </a:prstGeom>
          <a:solidFill>
            <a:srgbClr val="FFFFFF"/>
          </a:solidFill>
          <a:ln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57200" y="2011680"/>
            <a:ext cx="2560320" cy="54864"/>
          </a:xfrm>
          <a:prstGeom prst="rect">
            <a:avLst/>
          </a:prstGeom>
          <a:solidFill>
            <a:srgbClr val="1A73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219456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1A73E8"/>
                </a:solidFill>
                <a:latin typeface="Microsoft YaHei"/>
              </a:defRPr>
            </a:pPr>
            <a:r>
              <a:t>📋  原始需求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2743200"/>
            <a:ext cx="22860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666666"/>
                </a:solidFill>
                <a:latin typeface="Microsoft YaHei"/>
              </a:defRPr>
            </a:pPr>
            <a:r>
              <a:t>数据库中的结构化需求</a:t>
            </a:r>
          </a:p>
          <a:p>
            <a:pPr>
              <a:spcBef>
                <a:spcPts val="600"/>
              </a:spcBef>
              <a:spcAft>
                <a:spcPts val="200"/>
              </a:spcAft>
              <a:defRPr sz="1400" b="0">
                <a:solidFill>
                  <a:srgbClr val="666666"/>
                </a:solidFill>
                <a:latin typeface="Microsoft YaHei"/>
              </a:defRPr>
            </a:pPr>
            <a:r>
              <a:t>标题、描述、优先级、状态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291840" y="2011680"/>
            <a:ext cx="2560320" cy="2560320"/>
          </a:xfrm>
          <a:prstGeom prst="roundRect">
            <a:avLst/>
          </a:prstGeom>
          <a:solidFill>
            <a:srgbClr val="FFFFFF"/>
          </a:solidFill>
          <a:ln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3291840" y="2011680"/>
            <a:ext cx="2560320" cy="54864"/>
          </a:xfrm>
          <a:prstGeom prst="rect">
            <a:avLst/>
          </a:prstGeom>
          <a:solidFill>
            <a:srgbClr val="34A8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429000" y="219456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34A853"/>
                </a:solidFill>
                <a:latin typeface="Microsoft YaHei"/>
              </a:defRPr>
            </a:pPr>
            <a:r>
              <a:t>🔍  RAG 知识库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429000" y="2743200"/>
            <a:ext cx="22860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666666"/>
                </a:solidFill>
                <a:latin typeface="Microsoft YaHei"/>
              </a:defRPr>
            </a:pPr>
            <a:r>
              <a:t>从向量数据库检索相关内容</a:t>
            </a:r>
          </a:p>
          <a:p>
            <a:pPr>
              <a:spcBef>
                <a:spcPts val="600"/>
              </a:spcBef>
              <a:spcAft>
                <a:spcPts val="200"/>
              </a:spcAft>
              <a:defRPr sz="1400" b="0">
                <a:solidFill>
                  <a:srgbClr val="666666"/>
                </a:solidFill>
                <a:latin typeface="Microsoft YaHei"/>
              </a:defRPr>
            </a:pPr>
            <a:r>
              <a:t>需求文档、技术文档、API 文档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26480" y="2011680"/>
            <a:ext cx="2560320" cy="2560320"/>
          </a:xfrm>
          <a:prstGeom prst="roundRect">
            <a:avLst/>
          </a:prstGeom>
          <a:solidFill>
            <a:srgbClr val="FFFFFF"/>
          </a:solidFill>
          <a:ln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126480" y="2011680"/>
            <a:ext cx="2560320" cy="54864"/>
          </a:xfrm>
          <a:prstGeom prst="rect">
            <a:avLst/>
          </a:prstGeom>
          <a:solidFill>
            <a:srgbClr val="9C27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263640" y="219456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9C27B0"/>
                </a:solidFill>
                <a:latin typeface="Microsoft YaHei"/>
              </a:defRPr>
            </a:pPr>
            <a:r>
              <a:t>💬  评审会议知识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263640" y="2743200"/>
            <a:ext cx="22860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666666"/>
                </a:solidFill>
                <a:latin typeface="Microsoft YaHei"/>
              </a:defRPr>
            </a:pPr>
            <a:r>
              <a:t>需求/技术/用例评审记录</a:t>
            </a:r>
          </a:p>
          <a:p>
            <a:pPr>
              <a:spcBef>
                <a:spcPts val="600"/>
              </a:spcBef>
              <a:spcAft>
                <a:spcPts val="200"/>
              </a:spcAft>
              <a:defRPr sz="1400" b="0">
                <a:solidFill>
                  <a:srgbClr val="666666"/>
                </a:solidFill>
                <a:latin typeface="Microsoft YaHei"/>
              </a:defRPr>
            </a:pPr>
            <a:r>
              <a:t>关键决策、遗漏场景、待办事项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961120" y="2011680"/>
            <a:ext cx="2560320" cy="2560320"/>
          </a:xfrm>
          <a:prstGeom prst="roundRect">
            <a:avLst/>
          </a:prstGeom>
          <a:solidFill>
            <a:srgbClr val="FFFFFF"/>
          </a:solidFill>
          <a:ln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961120" y="2011680"/>
            <a:ext cx="2560320" cy="54864"/>
          </a:xfrm>
          <a:prstGeom prst="rect">
            <a:avLst/>
          </a:prstGeom>
          <a:solidFill>
            <a:srgbClr val="FF57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098280" y="219456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FF5722"/>
                </a:solidFill>
                <a:latin typeface="Microsoft YaHei"/>
              </a:defRPr>
            </a:pPr>
            <a:r>
              <a:t>📚  历史用例参考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098280" y="2743200"/>
            <a:ext cx="22860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666666"/>
                </a:solidFill>
                <a:latin typeface="Microsoft YaHei"/>
              </a:defRPr>
            </a:pPr>
            <a:r>
              <a:t>同项目历史用例集</a:t>
            </a:r>
          </a:p>
          <a:p>
            <a:pPr>
              <a:spcBef>
                <a:spcPts val="600"/>
              </a:spcBef>
              <a:spcAft>
                <a:spcPts val="200"/>
              </a:spcAft>
              <a:defRPr sz="1400" b="0">
                <a:solidFill>
                  <a:srgbClr val="666666"/>
                </a:solidFill>
                <a:latin typeface="Microsoft YaHei"/>
              </a:defRPr>
            </a:pPr>
            <a:r>
              <a:t>避免遗漏，防止重复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57200" y="4846320"/>
            <a:ext cx="11247120" cy="1645920"/>
          </a:xfrm>
          <a:prstGeom prst="roundRect">
            <a:avLst/>
          </a:prstGeom>
          <a:solidFill>
            <a:srgbClr val="E8F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31520" y="493776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34A853"/>
                </a:solidFill>
                <a:latin typeface="Microsoft YaHei"/>
              </a:defRPr>
            </a:pPr>
            <a:r>
              <a:t>合并后输出 → 增强需求文档（Enhanced Requirement）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31520" y="5394960"/>
            <a:ext cx="10515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202A36"/>
                </a:solidFill>
                <a:latin typeface="Microsoft YaHei"/>
              </a:defRPr>
            </a:pPr>
            <a:r>
              <a:t>✅  四个知识源通过 build_enhanced_requirement() 异步并行检索，合并为一份完整的增强文档</a:t>
            </a:r>
          </a:p>
          <a:p>
            <a:pPr>
              <a:spcBef>
                <a:spcPts val="400"/>
              </a:spcBef>
              <a:spcAft>
                <a:spcPts val="200"/>
              </a:spcAft>
              <a:defRPr sz="1400" b="0">
                <a:solidFill>
                  <a:srgbClr val="202A36"/>
                </a:solidFill>
                <a:latin typeface="Microsoft YaHei"/>
              </a:defRPr>
            </a:pPr>
            <a:r>
              <a:t>✅  增强文档作为 LLM 的输入 Context，使生成的测试点和用例更全面、更贴合实际业务</a:t>
            </a:r>
          </a:p>
          <a:p>
            <a:pPr>
              <a:spcBef>
                <a:spcPts val="400"/>
              </a:spcBef>
              <a:spcAft>
                <a:spcPts val="200"/>
              </a:spcAft>
              <a:defRPr sz="1400" b="0">
                <a:solidFill>
                  <a:srgbClr val="202A36"/>
                </a:solidFill>
                <a:latin typeface="Microsoft YaHei"/>
              </a:defRPr>
            </a:pPr>
            <a:r>
              <a:t>✅  任何一个知识源检索失败不影响整体流程（graceful degradation）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1A73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0"/>
          <a:lstStyle/>
          <a:p>
            <a:pPr algn="l">
              <a:spcBef>
                <a:spcPts val="1000"/>
              </a:spcBef>
              <a:defRPr sz="2800" b="1">
                <a:solidFill>
                  <a:srgbClr val="FFFFFF"/>
                </a:solidFill>
                <a:latin typeface="Microsoft YaHei"/>
              </a:defRPr>
            </a:pPr>
            <a:r>
              <a:t>Prompt 工程设计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18872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666666"/>
                </a:solidFill>
                <a:latin typeface="Microsoft YaHei"/>
              </a:defRPr>
            </a:pPr>
            <a:r>
              <a:t>4 组精心设计的 Prompt，组成完整的生成 - 验证 - 补充闭环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828800"/>
            <a:ext cx="5394960" cy="2286000"/>
          </a:xfrm>
          <a:prstGeom prst="roundRect">
            <a:avLst/>
          </a:prstGeom>
          <a:solidFill>
            <a:srgbClr val="FFFFFF"/>
          </a:solidFill>
          <a:ln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57200" y="1828800"/>
            <a:ext cx="5394960" cy="54864"/>
          </a:xfrm>
          <a:prstGeom prst="rect">
            <a:avLst/>
          </a:prstGeom>
          <a:solidFill>
            <a:srgbClr val="1A73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96596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1A73E8"/>
                </a:solidFill>
                <a:latin typeface="Microsoft YaHei"/>
              </a:defRPr>
            </a:pPr>
            <a:r>
              <a:t>① 测试点提取 Prompt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331720"/>
            <a:ext cx="50292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202A36"/>
                </a:solidFill>
                <a:latin typeface="Microsoft YaHei"/>
              </a:defRPr>
            </a:pPr>
            <a:r>
              <a:t>•  角色设定：资深测试工程师</a:t>
            </a:r>
          </a:p>
          <a:p>
            <a:pPr>
              <a:spcBef>
                <a:spcPts val="300"/>
              </a:spcBef>
              <a:spcAft>
                <a:spcPts val="200"/>
              </a:spcAft>
              <a:defRPr sz="1300" b="0">
                <a:solidFill>
                  <a:srgbClr val="202A36"/>
                </a:solidFill>
                <a:latin typeface="Microsoft YaHei"/>
              </a:defRPr>
            </a:pPr>
            <a:r>
              <a:t>•  主线思维：功能正常 + 边界 + 异常</a:t>
            </a:r>
          </a:p>
          <a:p>
            <a:pPr>
              <a:spcBef>
                <a:spcPts val="300"/>
              </a:spcBef>
              <a:spcAft>
                <a:spcPts val="200"/>
              </a:spcAft>
              <a:defRPr sz="1300" b="0">
                <a:solidFill>
                  <a:srgbClr val="202A36"/>
                </a:solidFill>
                <a:latin typeface="Microsoft YaHei"/>
              </a:defRPr>
            </a:pPr>
            <a:r>
              <a:t>•  知识融合：结合 RAG、评审知识、历史用例</a:t>
            </a:r>
          </a:p>
          <a:p>
            <a:pPr>
              <a:spcBef>
                <a:spcPts val="300"/>
              </a:spcBef>
              <a:spcAft>
                <a:spcPts val="200"/>
              </a:spcAft>
              <a:defRPr sz="1300" b="0">
                <a:solidFill>
                  <a:srgbClr val="202A36"/>
                </a:solidFill>
                <a:latin typeface="Microsoft YaHei"/>
              </a:defRPr>
            </a:pPr>
            <a:r>
              <a:t>•  输出格式：JSON 数组 [{type, test_point}]</a:t>
            </a:r>
          </a:p>
          <a:p>
            <a:pPr>
              <a:spcBef>
                <a:spcPts val="300"/>
              </a:spcBef>
              <a:spcAft>
                <a:spcPts val="200"/>
              </a:spcAft>
              <a:defRPr sz="1300" b="0">
                <a:solidFill>
                  <a:srgbClr val="202A36"/>
                </a:solidFill>
                <a:latin typeface="Microsoft YaHei"/>
              </a:defRPr>
            </a:pPr>
            <a:r>
              <a:t>•  支持增量：可基于已有测试点 + 覆盖率报告补充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309360" y="1828800"/>
            <a:ext cx="5394960" cy="2286000"/>
          </a:xfrm>
          <a:prstGeom prst="roundRect">
            <a:avLst/>
          </a:prstGeom>
          <a:solidFill>
            <a:srgbClr val="FFFFFF"/>
          </a:solidFill>
          <a:ln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309360" y="1828800"/>
            <a:ext cx="5394960" cy="54864"/>
          </a:xfrm>
          <a:prstGeom prst="rect">
            <a:avLst/>
          </a:prstGeom>
          <a:solidFill>
            <a:srgbClr val="34A8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92240" y="196596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34A853"/>
                </a:solidFill>
                <a:latin typeface="Microsoft YaHei"/>
              </a:defRPr>
            </a:pPr>
            <a:r>
              <a:t>② 测试用例生成 Prompt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92240" y="2331720"/>
            <a:ext cx="50292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202A36"/>
                </a:solidFill>
                <a:latin typeface="Microsoft YaHei"/>
              </a:defRPr>
            </a:pPr>
            <a:r>
              <a:t>•  核心要求：按测试场景分组输出</a:t>
            </a:r>
          </a:p>
          <a:p>
            <a:pPr>
              <a:spcBef>
                <a:spcPts val="300"/>
              </a:spcBef>
              <a:spcAft>
                <a:spcPts val="200"/>
              </a:spcAft>
              <a:defRPr sz="1300" b="0">
                <a:solidFill>
                  <a:srgbClr val="202A36"/>
                </a:solidFill>
                <a:latin typeface="Microsoft YaHei"/>
              </a:defRPr>
            </a:pPr>
            <a:r>
              <a:t>•  用例八要素：编号/名称/优先级/前置/步骤/数据/预期/实际</a:t>
            </a:r>
          </a:p>
          <a:p>
            <a:pPr>
              <a:spcBef>
                <a:spcPts val="300"/>
              </a:spcBef>
              <a:spcAft>
                <a:spcPts val="200"/>
              </a:spcAft>
              <a:defRPr sz="1300" b="0">
                <a:solidFill>
                  <a:srgbClr val="202A36"/>
                </a:solidFill>
                <a:latin typeface="Microsoft YaHei"/>
              </a:defRPr>
            </a:pPr>
            <a:r>
              <a:t>•  场景原则：场景互不重叠，覆盖所有测试点</a:t>
            </a:r>
          </a:p>
          <a:p>
            <a:pPr>
              <a:spcBef>
                <a:spcPts val="300"/>
              </a:spcBef>
              <a:spcAft>
                <a:spcPts val="200"/>
              </a:spcAft>
              <a:defRPr sz="1300" b="0">
                <a:solidFill>
                  <a:srgbClr val="202A36"/>
                </a:solidFill>
                <a:latin typeface="Microsoft YaHei"/>
              </a:defRPr>
            </a:pPr>
            <a:r>
              <a:t>•  输出格式：JSON [{scenario, cases: [...]}]</a:t>
            </a:r>
          </a:p>
          <a:p>
            <a:pPr>
              <a:spcBef>
                <a:spcPts val="300"/>
              </a:spcBef>
              <a:spcAft>
                <a:spcPts val="200"/>
              </a:spcAft>
              <a:defRPr sz="1300" b="0">
                <a:solidFill>
                  <a:srgbClr val="202A36"/>
                </a:solidFill>
                <a:latin typeface="Microsoft YaHei"/>
              </a:defRPr>
            </a:pPr>
            <a:r>
              <a:t>•  支持增量：基于已有用例 + 覆盖率报告补充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57200" y="4389120"/>
            <a:ext cx="5394960" cy="2286000"/>
          </a:xfrm>
          <a:prstGeom prst="roundRect">
            <a:avLst/>
          </a:prstGeom>
          <a:solidFill>
            <a:srgbClr val="FFFFFF"/>
          </a:solidFill>
          <a:ln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57200" y="4389120"/>
            <a:ext cx="5394960" cy="54864"/>
          </a:xfrm>
          <a:prstGeom prst="rect">
            <a:avLst/>
          </a:prstGeom>
          <a:solidFill>
            <a:srgbClr val="FBBC0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0080" y="452628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BBC04"/>
                </a:solidFill>
                <a:latin typeface="Microsoft YaHei"/>
              </a:defRPr>
            </a:pPr>
            <a:r>
              <a:t>③ 测试点覆盖率验证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" y="4892040"/>
            <a:ext cx="50292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202A36"/>
                </a:solidFill>
                <a:latin typeface="Microsoft YaHei"/>
              </a:defRPr>
            </a:pPr>
            <a:r>
              <a:t>•  对比需求文档与测试点的覆盖情况</a:t>
            </a:r>
          </a:p>
          <a:p>
            <a:pPr>
              <a:spcBef>
                <a:spcPts val="300"/>
              </a:spcBef>
              <a:spcAft>
                <a:spcPts val="200"/>
              </a:spcAft>
              <a:defRPr sz="1300" b="0">
                <a:solidFill>
                  <a:srgbClr val="202A36"/>
                </a:solidFill>
                <a:latin typeface="Microsoft YaHei"/>
              </a:defRPr>
            </a:pPr>
            <a:r>
              <a:t>•  检查评审中的关键决策是否有对应测试点</a:t>
            </a:r>
          </a:p>
          <a:p>
            <a:pPr>
              <a:spcBef>
                <a:spcPts val="300"/>
              </a:spcBef>
              <a:spcAft>
                <a:spcPts val="200"/>
              </a:spcAft>
              <a:defRPr sz="1300" b="0">
                <a:solidFill>
                  <a:srgbClr val="202A36"/>
                </a:solidFill>
                <a:latin typeface="Microsoft YaHei"/>
              </a:defRPr>
            </a:pPr>
            <a:r>
              <a:t>•  检查 RAG 补充的业务规则是否有覆盖</a:t>
            </a:r>
          </a:p>
          <a:p>
            <a:pPr>
              <a:spcBef>
                <a:spcPts val="300"/>
              </a:spcBef>
              <a:spcAft>
                <a:spcPts val="200"/>
              </a:spcAft>
              <a:defRPr sz="1300" b="0">
                <a:solidFill>
                  <a:srgbClr val="202A36"/>
                </a:solidFill>
                <a:latin typeface="Microsoft YaHei"/>
              </a:defRPr>
            </a:pPr>
            <a:r>
              <a:t>•  全覆盖 → 返回"测试点已经全部覆盖"</a:t>
            </a:r>
          </a:p>
          <a:p>
            <a:pPr>
              <a:spcBef>
                <a:spcPts val="300"/>
              </a:spcBef>
              <a:spcAft>
                <a:spcPts val="200"/>
              </a:spcAft>
              <a:defRPr sz="1300" b="0">
                <a:solidFill>
                  <a:srgbClr val="202A36"/>
                </a:solidFill>
                <a:latin typeface="Microsoft YaHei"/>
              </a:defRPr>
            </a:pPr>
            <a:r>
              <a:t>•  未覆盖 → 输出覆盖率分析报告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309360" y="4389120"/>
            <a:ext cx="5394960" cy="2286000"/>
          </a:xfrm>
          <a:prstGeom prst="roundRect">
            <a:avLst/>
          </a:prstGeom>
          <a:solidFill>
            <a:srgbClr val="FFFFFF"/>
          </a:solidFill>
          <a:ln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309360" y="4389120"/>
            <a:ext cx="5394960" cy="54864"/>
          </a:xfrm>
          <a:prstGeom prst="rect">
            <a:avLst/>
          </a:prstGeom>
          <a:solidFill>
            <a:srgbClr val="9C27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92240" y="452628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9C27B0"/>
                </a:solidFill>
                <a:latin typeface="Microsoft YaHei"/>
              </a:defRPr>
            </a:pPr>
            <a:r>
              <a:t>④ 用例覆盖率验证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92240" y="4892040"/>
            <a:ext cx="50292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202A36"/>
                </a:solidFill>
                <a:latin typeface="Microsoft YaHei"/>
              </a:defRPr>
            </a:pPr>
            <a:r>
              <a:t>•  对比测试点与测试用例的覆盖情况</a:t>
            </a:r>
          </a:p>
          <a:p>
            <a:pPr>
              <a:spcBef>
                <a:spcPts val="300"/>
              </a:spcBef>
              <a:spcAft>
                <a:spcPts val="200"/>
              </a:spcAft>
              <a:defRPr sz="1300" b="0">
                <a:solidFill>
                  <a:srgbClr val="202A36"/>
                </a:solidFill>
                <a:latin typeface="Microsoft YaHei"/>
              </a:defRPr>
            </a:pPr>
            <a:r>
              <a:t>•  全覆盖 → 返回"已覆盖全部测试点"</a:t>
            </a:r>
          </a:p>
          <a:p>
            <a:pPr>
              <a:spcBef>
                <a:spcPts val="300"/>
              </a:spcBef>
              <a:spcAft>
                <a:spcPts val="200"/>
              </a:spcAft>
              <a:defRPr sz="1300" b="0">
                <a:solidFill>
                  <a:srgbClr val="202A36"/>
                </a:solidFill>
                <a:latin typeface="Microsoft YaHei"/>
              </a:defRPr>
            </a:pPr>
            <a:r>
              <a:t>•  未覆盖 → 输出测试点覆盖分析报告</a:t>
            </a:r>
          </a:p>
          <a:p>
            <a:pPr>
              <a:spcBef>
                <a:spcPts val="300"/>
              </a:spcBef>
              <a:spcAft>
                <a:spcPts val="200"/>
              </a:spcAft>
              <a:defRPr sz="1300" b="0">
                <a:solidFill>
                  <a:srgbClr val="202A36"/>
                </a:solidFill>
                <a:latin typeface="Microsoft YaHei"/>
              </a:defRPr>
            </a:pPr>
            <a:r>
              <a:t>•  触发主工作流的循环补充机制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1A73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0"/>
          <a:lstStyle/>
          <a:p>
            <a:pPr algn="l">
              <a:spcBef>
                <a:spcPts val="1000"/>
              </a:spcBef>
              <a:defRPr sz="2800" b="1">
                <a:solidFill>
                  <a:srgbClr val="FFFFFF"/>
                </a:solidFill>
                <a:latin typeface="Microsoft YaHei"/>
              </a:defRPr>
            </a:pPr>
            <a:r>
              <a:t>用例输出格式与数据模型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57200" y="1371600"/>
            <a:ext cx="5303520" cy="5029200"/>
          </a:xfrm>
          <a:prstGeom prst="roundRect">
            <a:avLst/>
          </a:prstGeom>
          <a:solidFill>
            <a:srgbClr val="E8F0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463040"/>
            <a:ext cx="4846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1A73E8"/>
                </a:solidFill>
                <a:latin typeface="Microsoft YaHei"/>
              </a:defRPr>
            </a:pPr>
            <a:r>
              <a:t>测试点输出格式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011680"/>
            <a:ext cx="475488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202A36"/>
                </a:solidFill>
                <a:latin typeface="Microsoft YaHei"/>
              </a:defRPr>
            </a:pPr>
            <a:r>
              <a:t>[</a:t>
            </a:r>
            <a:br/>
            <a:r>
              <a:t>  {"type": "正向验证",</a:t>
            </a:r>
            <a:br/>
            <a:r>
              <a:t>   "test_point": "输入正确用户名密码，成功登录"},</a:t>
            </a:r>
            <a:br/>
            <a:r>
              <a:t>  {"type": "边界测试",</a:t>
            </a:r>
            <a:br/>
            <a:r>
              <a:t>   "test_point": "用户名长度为最小值时登录"},</a:t>
            </a:r>
            <a:br/>
            <a:r>
              <a:t>  {"type": "异常处理",</a:t>
            </a:r>
            <a:br/>
            <a:r>
              <a:t>   "test_point": "输入错误用户名，提示不存在"}</a:t>
            </a:r>
            <a:br/>
            <a:r>
              <a:t>]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4297680"/>
            <a:ext cx="4846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1A73E8"/>
                </a:solidFill>
                <a:latin typeface="Microsoft YaHei"/>
              </a:defRPr>
            </a:pPr>
            <a:r>
              <a:t>三类测试点分类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4663440"/>
            <a:ext cx="47548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202A36"/>
                </a:solidFill>
                <a:latin typeface="Microsoft YaHei"/>
              </a:defRPr>
            </a:pPr>
            <a:r>
              <a:t>🟢  正向验证 — 核心功能的正常场景</a:t>
            </a:r>
          </a:p>
          <a:p>
            <a:pPr>
              <a:spcBef>
                <a:spcPts val="600"/>
              </a:spcBef>
              <a:spcAft>
                <a:spcPts val="200"/>
              </a:spcAft>
              <a:defRPr sz="1400" b="0">
                <a:solidFill>
                  <a:srgbClr val="202A36"/>
                </a:solidFill>
                <a:latin typeface="Microsoft YaHei"/>
              </a:defRPr>
            </a:pPr>
            <a:r>
              <a:t>🟡  边界测试 — 边界值、极限条件</a:t>
            </a:r>
          </a:p>
          <a:p>
            <a:pPr>
              <a:spcBef>
                <a:spcPts val="600"/>
              </a:spcBef>
              <a:spcAft>
                <a:spcPts val="200"/>
              </a:spcAft>
              <a:defRPr sz="1400" b="0">
                <a:solidFill>
                  <a:srgbClr val="202A36"/>
                </a:solidFill>
                <a:latin typeface="Microsoft YaHei"/>
              </a:defRPr>
            </a:pPr>
            <a:r>
              <a:t>🔴  异常处理 — 错误输入、异常流程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371600"/>
            <a:ext cx="5486400" cy="5029200"/>
          </a:xfrm>
          <a:prstGeom prst="roundRect">
            <a:avLst/>
          </a:prstGeom>
          <a:solidFill>
            <a:srgbClr val="E8F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0" y="146304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34A853"/>
                </a:solidFill>
                <a:latin typeface="Microsoft YaHei"/>
              </a:defRPr>
            </a:pPr>
            <a:r>
              <a:t>测试用例输出格式（按场景分组）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92240" y="2011680"/>
            <a:ext cx="50292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202A36"/>
                </a:solidFill>
                <a:latin typeface="Microsoft YaHei"/>
              </a:defRPr>
            </a:pPr>
            <a:r>
              <a:t>[{</a:t>
            </a:r>
            <a:br/>
            <a:r>
              <a:t>  "scenario": "正常登录场景",</a:t>
            </a:r>
            <a:br/>
            <a:r>
              <a:t>  "cases": [{</a:t>
            </a:r>
            <a:br/>
            <a:r>
              <a:t>    "case_id": "TC_001",</a:t>
            </a:r>
            <a:br/>
            <a:r>
              <a:t>    "case_name": "正确账号密码登录",</a:t>
            </a:r>
            <a:br/>
            <a:r>
              <a:t>    "priority": "P0",</a:t>
            </a:r>
            <a:br/>
            <a:r>
              <a:t>    "preconditions": "用户已注册",</a:t>
            </a:r>
            <a:br/>
            <a:r>
              <a:t>    "test_steps": "输入账号密码点击登录",</a:t>
            </a:r>
            <a:br/>
            <a:r>
              <a:t>    "test_data": "admin/123456",</a:t>
            </a:r>
            <a:br/>
            <a:r>
              <a:t>    "expected_result": "登录成功跳转首页",</a:t>
            </a:r>
            <a:br/>
            <a:r>
              <a:t>    "actual_result": ""</a:t>
            </a:r>
            <a:br/>
            <a:r>
              <a:t>  }]</a:t>
            </a:r>
            <a:br/>
            <a:r>
              <a:t>}]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0" y="4754880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34A853"/>
                </a:solidFill>
                <a:latin typeface="Microsoft YaHei"/>
              </a:defRPr>
            </a:pPr>
            <a:r>
              <a:t>用例八要素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92240" y="5120640"/>
            <a:ext cx="50292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202A36"/>
                </a:solidFill>
                <a:latin typeface="Microsoft YaHei"/>
              </a:defRPr>
            </a:pPr>
            <a:r>
              <a:t>编号 | 名称 | 优先级 | 前置条件</a:t>
            </a:r>
          </a:p>
          <a:p>
            <a:pPr>
              <a:spcBef>
                <a:spcPts val="400"/>
              </a:spcBef>
              <a:spcAft>
                <a:spcPts val="200"/>
              </a:spcAft>
              <a:defRPr sz="1300" b="0">
                <a:solidFill>
                  <a:srgbClr val="202A36"/>
                </a:solidFill>
                <a:latin typeface="Microsoft YaHei"/>
              </a:defRPr>
            </a:pPr>
            <a:r>
              <a:t>测试步骤 | 输入数据 | 预期结果 | 实际结果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1A73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0"/>
          <a:lstStyle/>
          <a:p>
            <a:pPr algn="l">
              <a:spcBef>
                <a:spcPts val="1000"/>
              </a:spcBef>
              <a:defRPr sz="2800" b="1">
                <a:solidFill>
                  <a:srgbClr val="FFFFFF"/>
                </a:solidFill>
                <a:latin typeface="Microsoft YaHei"/>
              </a:defRPr>
            </a:pPr>
            <a:r>
              <a:t>多模态输入 — 灵活的测试用例生成入口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18872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666666"/>
                </a:solidFill>
                <a:latin typeface="Microsoft YaHei"/>
              </a:defRPr>
            </a:pPr>
            <a:r>
              <a:t>支持多种输入方式，覆盖不同场景下的测试用例生成需求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2011680"/>
            <a:ext cx="2103120" cy="3474720"/>
          </a:xfrm>
          <a:prstGeom prst="roundRect">
            <a:avLst/>
          </a:prstGeom>
          <a:solidFill>
            <a:srgbClr val="FFFFFF"/>
          </a:solidFill>
          <a:ln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57200" y="2011680"/>
            <a:ext cx="2103120" cy="54864"/>
          </a:xfrm>
          <a:prstGeom prst="rect">
            <a:avLst/>
          </a:prstGeom>
          <a:solidFill>
            <a:srgbClr val="1A73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2194560"/>
            <a:ext cx="1920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1A73E8"/>
                </a:solidFill>
                <a:latin typeface="Microsoft YaHei"/>
              </a:defRPr>
            </a:pPr>
            <a:r>
              <a:t>📄  需求文档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2743200"/>
            <a:ext cx="192024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666666"/>
                </a:solidFill>
                <a:latin typeface="Microsoft YaHei"/>
              </a:defRPr>
            </a:pPr>
            <a:r>
              <a:t>PDF / DOCX / TXT / MD / HTML</a:t>
            </a:r>
          </a:p>
          <a:p>
            <a:pPr>
              <a:spcBef>
                <a:spcPts val="600"/>
              </a:spcBef>
              <a:spcAft>
                <a:spcPts val="200"/>
              </a:spcAft>
              <a:defRPr sz="1300" b="0">
                <a:solidFill>
                  <a:srgbClr val="666666"/>
                </a:solidFill>
                <a:latin typeface="Microsoft YaHei"/>
              </a:defRPr>
            </a:pPr>
            <a:r>
              <a:t>上传后自动解析提取内容</a:t>
            </a:r>
          </a:p>
          <a:p>
            <a:pPr>
              <a:spcBef>
                <a:spcPts val="600"/>
              </a:spcBef>
              <a:spcAft>
                <a:spcPts val="200"/>
              </a:spcAft>
              <a:defRPr sz="1300" b="0">
                <a:solidFill>
                  <a:srgbClr val="666666"/>
                </a:solidFill>
                <a:latin typeface="Microsoft YaHei"/>
              </a:defRPr>
            </a:pPr>
            <a:r>
              <a:t>支持大型 PRD 文档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788920" y="2011680"/>
            <a:ext cx="2103120" cy="3474720"/>
          </a:xfrm>
          <a:prstGeom prst="roundRect">
            <a:avLst/>
          </a:prstGeom>
          <a:solidFill>
            <a:srgbClr val="FFFFFF"/>
          </a:solidFill>
          <a:ln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2788920" y="2011680"/>
            <a:ext cx="2103120" cy="54864"/>
          </a:xfrm>
          <a:prstGeom prst="rect">
            <a:avLst/>
          </a:prstGeom>
          <a:solidFill>
            <a:srgbClr val="34A8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880360" y="2194560"/>
            <a:ext cx="1920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34A853"/>
                </a:solidFill>
                <a:latin typeface="Microsoft YaHei"/>
              </a:defRPr>
            </a:pPr>
            <a:r>
              <a:t>🖼️  截图/图片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880360" y="2743200"/>
            <a:ext cx="192024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666666"/>
                </a:solidFill>
                <a:latin typeface="Microsoft YaHei"/>
              </a:defRPr>
            </a:pPr>
            <a:r>
              <a:t>PNG / JPG / JPEG / WebP / GIF</a:t>
            </a:r>
          </a:p>
          <a:p>
            <a:pPr>
              <a:spcBef>
                <a:spcPts val="600"/>
              </a:spcBef>
              <a:spcAft>
                <a:spcPts val="200"/>
              </a:spcAft>
              <a:defRPr sz="1300" b="0">
                <a:solidFill>
                  <a:srgbClr val="666666"/>
                </a:solidFill>
                <a:latin typeface="Microsoft YaHei"/>
              </a:defRPr>
            </a:pPr>
            <a:r>
              <a:t>视觉识别 UI 原型和设计稿</a:t>
            </a:r>
          </a:p>
          <a:p>
            <a:pPr>
              <a:spcBef>
                <a:spcPts val="600"/>
              </a:spcBef>
              <a:spcAft>
                <a:spcPts val="200"/>
              </a:spcAft>
              <a:defRPr sz="1300" b="0">
                <a:solidFill>
                  <a:srgbClr val="666666"/>
                </a:solidFill>
                <a:latin typeface="Microsoft YaHei"/>
              </a:defRPr>
            </a:pPr>
            <a:r>
              <a:t>提取页面元素和交互逻辑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120640" y="2011680"/>
            <a:ext cx="2103120" cy="3474720"/>
          </a:xfrm>
          <a:prstGeom prst="roundRect">
            <a:avLst/>
          </a:prstGeom>
          <a:solidFill>
            <a:srgbClr val="FFFFFF"/>
          </a:solidFill>
          <a:ln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5120640" y="2011680"/>
            <a:ext cx="2103120" cy="54864"/>
          </a:xfrm>
          <a:prstGeom prst="rect">
            <a:avLst/>
          </a:prstGeom>
          <a:solidFill>
            <a:srgbClr val="9C27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212080" y="2194560"/>
            <a:ext cx="1920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9C27B0"/>
                </a:solidFill>
                <a:latin typeface="Microsoft YaHei"/>
              </a:defRPr>
            </a:pPr>
            <a:r>
              <a:t>🎬  评审视频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212080" y="2743200"/>
            <a:ext cx="192024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666666"/>
                </a:solidFill>
                <a:latin typeface="Microsoft YaHei"/>
              </a:defRPr>
            </a:pPr>
            <a:r>
              <a:t>MP4 / MOV / AVI / WebM</a:t>
            </a:r>
          </a:p>
          <a:p>
            <a:pPr>
              <a:spcBef>
                <a:spcPts val="600"/>
              </a:spcBef>
              <a:spcAft>
                <a:spcPts val="200"/>
              </a:spcAft>
              <a:defRPr sz="1300" b="0">
                <a:solidFill>
                  <a:srgbClr val="666666"/>
                </a:solidFill>
                <a:latin typeface="Microsoft YaHei"/>
              </a:defRPr>
            </a:pPr>
            <a:r>
              <a:t>分析评审会议录屏</a:t>
            </a:r>
          </a:p>
          <a:p>
            <a:pPr>
              <a:spcBef>
                <a:spcPts val="600"/>
              </a:spcBef>
              <a:spcAft>
                <a:spcPts val="200"/>
              </a:spcAft>
              <a:defRPr sz="1300" b="0">
                <a:solidFill>
                  <a:srgbClr val="666666"/>
                </a:solidFill>
                <a:latin typeface="Microsoft YaHei"/>
              </a:defRPr>
            </a:pPr>
            <a:r>
              <a:t>提取评审要点和补充需求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452360" y="2011680"/>
            <a:ext cx="2103120" cy="3474720"/>
          </a:xfrm>
          <a:prstGeom prst="roundRect">
            <a:avLst/>
          </a:prstGeom>
          <a:solidFill>
            <a:srgbClr val="FFFFFF"/>
          </a:solidFill>
          <a:ln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7452360" y="2011680"/>
            <a:ext cx="2103120" cy="54864"/>
          </a:xfrm>
          <a:prstGeom prst="rect">
            <a:avLst/>
          </a:prstGeom>
          <a:solidFill>
            <a:srgbClr val="FF57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543800" y="2194560"/>
            <a:ext cx="1920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FF5722"/>
                </a:solidFill>
                <a:latin typeface="Microsoft YaHei"/>
              </a:defRPr>
            </a:pPr>
            <a:r>
              <a:t>📝  自由文本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543800" y="2743200"/>
            <a:ext cx="192024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666666"/>
                </a:solidFill>
                <a:latin typeface="Microsoft YaHei"/>
              </a:defRPr>
            </a:pPr>
            <a:r>
              <a:t>粘贴 PRD / 用户故事</a:t>
            </a:r>
          </a:p>
          <a:p>
            <a:pPr>
              <a:spcBef>
                <a:spcPts val="600"/>
              </a:spcBef>
              <a:spcAft>
                <a:spcPts val="200"/>
              </a:spcAft>
              <a:defRPr sz="1300" b="0">
                <a:solidFill>
                  <a:srgbClr val="666666"/>
                </a:solidFill>
                <a:latin typeface="Microsoft YaHei"/>
              </a:defRPr>
            </a:pPr>
            <a:r>
              <a:t>直接输入需求描述</a:t>
            </a:r>
          </a:p>
          <a:p>
            <a:pPr>
              <a:spcBef>
                <a:spcPts val="600"/>
              </a:spcBef>
              <a:spcAft>
                <a:spcPts val="200"/>
              </a:spcAft>
              <a:defRPr sz="1300" b="0">
                <a:solidFill>
                  <a:srgbClr val="666666"/>
                </a:solidFill>
                <a:latin typeface="Microsoft YaHei"/>
              </a:defRPr>
            </a:pPr>
            <a:r>
              <a:t>支持 Markdown 格式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9784080" y="2011680"/>
            <a:ext cx="2103120" cy="3474720"/>
          </a:xfrm>
          <a:prstGeom prst="roundRect">
            <a:avLst/>
          </a:prstGeom>
          <a:solidFill>
            <a:srgbClr val="FFFFFF"/>
          </a:solidFill>
          <a:ln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9784080" y="2011680"/>
            <a:ext cx="2103120" cy="54864"/>
          </a:xfrm>
          <a:prstGeom prst="rect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875520" y="2194560"/>
            <a:ext cx="1920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009688"/>
                </a:solidFill>
                <a:latin typeface="Microsoft YaHei"/>
              </a:defRPr>
            </a:pPr>
            <a:r>
              <a:t>📚  知识库文档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875520" y="2743200"/>
            <a:ext cx="192024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666666"/>
                </a:solidFill>
                <a:latin typeface="Microsoft YaHei"/>
              </a:defRPr>
            </a:pPr>
            <a:r>
              <a:t>关联已入库的文档</a:t>
            </a:r>
          </a:p>
          <a:p>
            <a:pPr>
              <a:spcBef>
                <a:spcPts val="600"/>
              </a:spcBef>
              <a:spcAft>
                <a:spcPts val="200"/>
              </a:spcAft>
              <a:defRPr sz="1300" b="0">
                <a:solidFill>
                  <a:srgbClr val="666666"/>
                </a:solidFill>
                <a:latin typeface="Microsoft YaHei"/>
              </a:defRPr>
            </a:pPr>
            <a:r>
              <a:t>自动检索相关知识</a:t>
            </a:r>
          </a:p>
          <a:p>
            <a:pPr>
              <a:spcBef>
                <a:spcPts val="600"/>
              </a:spcBef>
              <a:spcAft>
                <a:spcPts val="200"/>
              </a:spcAft>
              <a:defRPr sz="1300" b="0">
                <a:solidFill>
                  <a:srgbClr val="666666"/>
                </a:solidFill>
                <a:latin typeface="Microsoft YaHei"/>
              </a:defRPr>
            </a:pPr>
            <a:r>
              <a:t>RAG 增强生成质量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48640" y="594360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1A73E8"/>
                </a:solidFill>
                <a:latin typeface="Microsoft YaHei"/>
              </a:defRPr>
            </a:pPr>
            <a:r>
              <a:t>💡 所有输入方式统一经过内容提取 → 测试点生成 → 用例生成的标准流程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1A73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0"/>
          <a:lstStyle/>
          <a:p>
            <a:pPr algn="l">
              <a:spcBef>
                <a:spcPts val="1000"/>
              </a:spcBef>
              <a:defRPr sz="2800" b="1">
                <a:solidFill>
                  <a:srgbClr val="FFFFFF"/>
                </a:solidFill>
                <a:latin typeface="Microsoft YaHei"/>
              </a:defRPr>
            </a:pPr>
            <a:r>
              <a:t>核心亮点与技术创新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48640" y="1371600"/>
            <a:ext cx="3383280" cy="2286000"/>
          </a:xfrm>
          <a:prstGeom prst="roundRect">
            <a:avLst/>
          </a:prstGeom>
          <a:solidFill>
            <a:srgbClr val="FFFFFF"/>
          </a:solidFill>
          <a:ln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48640" y="1371600"/>
            <a:ext cx="3383280" cy="54864"/>
          </a:xfrm>
          <a:prstGeom prst="rect">
            <a:avLst/>
          </a:prstGeom>
          <a:solidFill>
            <a:srgbClr val="1A73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85800" y="1554480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1A73E8"/>
                </a:solidFill>
                <a:latin typeface="Microsoft YaHei"/>
              </a:defRPr>
            </a:pPr>
            <a:r>
              <a:t>🔄  LangGraph 双层工作流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2057400"/>
            <a:ext cx="310896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666666"/>
                </a:solidFill>
                <a:latin typeface="Microsoft YaHei"/>
              </a:defRPr>
            </a:pPr>
            <a:r>
              <a:t>主工作流 + 子工作流的架构设计，实现测试点和用例的迭代生成与验证。覆盖率不足时自动循环补充，确保测试质量。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297680" y="1371600"/>
            <a:ext cx="3383280" cy="2286000"/>
          </a:xfrm>
          <a:prstGeom prst="roundRect">
            <a:avLst/>
          </a:prstGeom>
          <a:solidFill>
            <a:srgbClr val="FFFFFF"/>
          </a:solidFill>
          <a:ln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297680" y="1371600"/>
            <a:ext cx="3383280" cy="54864"/>
          </a:xfrm>
          <a:prstGeom prst="rect">
            <a:avLst/>
          </a:prstGeom>
          <a:solidFill>
            <a:srgbClr val="34A8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434840" y="1554480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34A853"/>
                </a:solidFill>
                <a:latin typeface="Microsoft YaHei"/>
              </a:defRPr>
            </a:pPr>
            <a:r>
              <a:t>🧠  知识增强生成（RAG+）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434840" y="2057400"/>
            <a:ext cx="310896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666666"/>
                </a:solidFill>
                <a:latin typeface="Microsoft YaHei"/>
              </a:defRPr>
            </a:pPr>
            <a:r>
              <a:t>不仅使用 RAG 知识检索，还融合评审会议知识和历史用例。四个知识源异步并行，构建最完整的业务上下文。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046720" y="1371600"/>
            <a:ext cx="3383280" cy="2286000"/>
          </a:xfrm>
          <a:prstGeom prst="roundRect">
            <a:avLst/>
          </a:prstGeom>
          <a:solidFill>
            <a:srgbClr val="FFFFFF"/>
          </a:solidFill>
          <a:ln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046720" y="1371600"/>
            <a:ext cx="3383280" cy="54864"/>
          </a:xfrm>
          <a:prstGeom prst="rect">
            <a:avLst/>
          </a:prstGeom>
          <a:solidFill>
            <a:srgbClr val="9C27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183880" y="1554480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9C27B0"/>
                </a:solidFill>
                <a:latin typeface="Microsoft YaHei"/>
              </a:defRPr>
            </a:pPr>
            <a:r>
              <a:t>📋  场景化用例分组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183880" y="2057400"/>
            <a:ext cx="310896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666666"/>
                </a:solidFill>
                <a:latin typeface="Microsoft YaHei"/>
              </a:defRPr>
            </a:pPr>
            <a:r>
              <a:t>AI 自动按业务场景对用例分组，方便测试人员理解和执行。每个场景内用例逻辑连贯，跨场景无重叠。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48640" y="4023360"/>
            <a:ext cx="3383280" cy="2286000"/>
          </a:xfrm>
          <a:prstGeom prst="roundRect">
            <a:avLst/>
          </a:prstGeom>
          <a:solidFill>
            <a:srgbClr val="FFFFFF"/>
          </a:solidFill>
          <a:ln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548640" y="4023360"/>
            <a:ext cx="3383280" cy="54864"/>
          </a:xfrm>
          <a:prstGeom prst="rect">
            <a:avLst/>
          </a:prstGeom>
          <a:solidFill>
            <a:srgbClr val="FF57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85800" y="4206240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FF5722"/>
                </a:solidFill>
                <a:latin typeface="Microsoft YaHei"/>
              </a:defRPr>
            </a:pPr>
            <a:r>
              <a:t>🎯  多模态输入支持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85800" y="4709160"/>
            <a:ext cx="310896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666666"/>
                </a:solidFill>
                <a:latin typeface="Microsoft YaHei"/>
              </a:defRPr>
            </a:pPr>
            <a:r>
              <a:t>支持文档、图片、视频、文本、知识库文档等多种输入。适配 PRD 文档、UI 设计稿、评审录屏等不同场景。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297680" y="4023360"/>
            <a:ext cx="3383280" cy="2286000"/>
          </a:xfrm>
          <a:prstGeom prst="roundRect">
            <a:avLst/>
          </a:prstGeom>
          <a:solidFill>
            <a:srgbClr val="FFFFFF"/>
          </a:solidFill>
          <a:ln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4297680" y="4023360"/>
            <a:ext cx="3383280" cy="54864"/>
          </a:xfrm>
          <a:prstGeom prst="rect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434840" y="4206240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009688"/>
                </a:solidFill>
                <a:latin typeface="Microsoft YaHei"/>
              </a:defRPr>
            </a:pPr>
            <a:r>
              <a:t>✅  覆盖率双重验证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434840" y="4709160"/>
            <a:ext cx="310896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666666"/>
                </a:solidFill>
                <a:latin typeface="Microsoft YaHei"/>
              </a:defRPr>
            </a:pPr>
            <a:r>
              <a:t>测试点覆盖率 + 用例覆盖率的双重验证机制。利用 LLM 进行智能分析，而非简单的规则匹配。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046720" y="4023360"/>
            <a:ext cx="3383280" cy="2286000"/>
          </a:xfrm>
          <a:prstGeom prst="roundRect">
            <a:avLst/>
          </a:prstGeom>
          <a:solidFill>
            <a:srgbClr val="FFFFFF"/>
          </a:solidFill>
          <a:ln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8046720" y="4023360"/>
            <a:ext cx="3383280" cy="54864"/>
          </a:xfrm>
          <a:prstGeom prst="rect">
            <a:avLst/>
          </a:prstGeom>
          <a:solidFill>
            <a:srgbClr val="E91E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183880" y="4206240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E91E63"/>
                </a:solidFill>
                <a:latin typeface="Microsoft YaHei"/>
              </a:defRPr>
            </a:pPr>
            <a:r>
              <a:t>⚡  全流程自动化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183880" y="4709160"/>
            <a:ext cx="310896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666666"/>
                </a:solidFill>
                <a:latin typeface="Microsoft YaHei"/>
              </a:defRPr>
            </a:pPr>
            <a:r>
              <a:t>从需求输入到用例入库全自动。支持 XMind 导出、接口自动化执行、测试报告生成等后续流程。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1A73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37160" y="2926080"/>
            <a:ext cx="7315200" cy="73152"/>
          </a:xfrm>
          <a:prstGeom prst="rect">
            <a:avLst/>
          </a:prstGeom>
          <a:solidFill>
            <a:srgbClr val="1A73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82880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5200" b="1">
                <a:solidFill>
                  <a:srgbClr val="202A36"/>
                </a:solidFill>
                <a:latin typeface="Microsoft YaHei"/>
              </a:defRPr>
            </a:pPr>
            <a:r>
              <a:t>Thanks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20040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
                  <a:srgbClr val="666666"/>
                </a:solidFill>
                <a:latin typeface="Microsoft YaHei"/>
              </a:defRPr>
            </a:pPr>
            <a:r>
              <a:t>AiProtect — 让 AI 成为每位测试工程师的智能助手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457200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1A73E8"/>
                </a:solidFill>
                <a:latin typeface="Microsoft YaHei"/>
              </a:defRPr>
            </a:pPr>
            <a:r>
              <a:t>Q &amp; A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